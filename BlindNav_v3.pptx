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Аудитория — специалисты центра и заинтересованные слушатели, среди них могут быть незрячие. Всё, что показываю на экране, проговариваю вслух: слайды здесь — опора для меня, а не для зала.
Представиться, назвать одной фразой суть: устройство висит на человеке, смотрит вперёд и говорит в наушник о том, что мешает идти. Работает целиком офлайн.
Регламент: 10-15 минут о том, что устройство умеет, потом живая демонстрация, потом обсуждение — мы приехали за обратной связью, и её сбор для нас важнее самого доклада.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Первым делом сказать вслух: это не замена трости. Трость даёт опору и информацию о покрытии под ногами, устройство — о том, что впереди на уровне корпуса и головы.
Если в зале есть незрячие — спросить, узнают ли они эти три ситуации и какую четвёртую назвали бы. Ответ полезнее любого моего слайда: записать и увезти с собой.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сам комплект в руках, дать потрогать — это работает лучше слайда.
Про наушники сказать честно: обычные затычки закрывают слух, а незрячему человеку слух нужен весь. Правильное направление — костная проводимость или одно ухо; спросить, что в центре считают приемлемым.
Про крепление спросить прямо в зал: камера сейчас ставится на нагрудную обвязку с быстросъёмной площадкой. Магниты через одежду рассматривали и отказались — рядом с грудью нельзя из-за кардиостимуляторов и других имплантов.
Про приватность (нижняя строка): запись хранится на карте памяти внутри устройства и никуда не передаётся. В центре этот вопрос зададут обязательно.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Проиграть фразу вживую, а не читать её с экрана — голос устройства сам по себе половина впечатления.
Почему так мало слов: длинная вежливая фраза приходит к человеку тогда, когда он уже сделал два шага. Формулировки короткие намеренно.
Та же цель не повторяется чаще раза в 12 секунд — это защита от бубнежа. Если объект не приближается, человек про него уже знает.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самый убедительный слайд: не схема, а настоящий кадр с прогулки по Петербургу, снятый камерой на груди.
Показать пальцем: зелёным обведён человек в пяти метрах — про него устройство скажет. Столб в четырёх метрах и бордюр в метре тоже найдены. Синие рамки — то, что распознано, но не озвучено.
Если спросят про качество картинки: камера снимает 640 на 480, этого достаточно — важно не рассмотреть лицо, а понять, что впереди человек.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Смысл слайда не в цифре 7, а в том, что устройство молчит намеренно. Молчание — тоже решение: если говорить обо всём, что видно, человек перестаёт слушать.
Семь метров — расстояние, на котором пешеходным темпом ещё есть время среагировать. Величина настраивается, и это первый вопрос, который я хочу задать специалистам: не мало ли.
Серые машины на схеме — то, что устройство видит, но о чём не говорит.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проговаривать список подряд — он на экране. Сказать главное: набор классов выбран под пешехода, а не под водителя, и он открыт для изменений.
Здесь самое время спросить зал: чего в этом списке не хватает? Ступеньки, люки, лужи, шлагбаумы, самокаты, столбики-ограничители. Записывать при зале вслух — этот список определит, что мы дообучаем следующим, и ради него мы приехали.
Если спросят, одинаково ли хорошо распознаются все восемь: честно — нет, машины и знаки увереннее, светофор пока слабее. Мы это измеряем и дорабатываем.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для тех, кто спросит «а как оно вообще работает».
Главное, что стоит произнести: между тем, что попало в камеру, и тем, что услышал человек, нет ни одного шага наружу. Нет сервера, нет облака, нет подписки.
Самая интересная часть — третья: устройство не перечисляет всё найденное, а выбирает одну цель. Как именно выбирает — на следующем слайде про зону внимания.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вживую, если позволяет место. В помещении спутники не ловятся — тогда честно сказать об этом и показать запись прогулки.
Про уточнение адреса: оно появилось после реального случая, когда устройство расслышало не то и построило маршрут не туда — молча. Теперь оно всегда переспрашивает.
Карта сейчас — Санкт-Петербург. Любой другой город добавляется одним файлом.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доказательство, что макронавигация не на бумаге: реальный выход, 470 метров, пять манёвров.
Адреса на слайде — тестовые, из дипломной работы. Если не хочется называть их вслух, достаточно сказать «жилой квартал».
Чего пока нет и о чём честно сказать, если спросят: устройство ведёт по маршруту, но не переводит через дорогу — светофор оно видит, а вот сигнал светофора распознаёт слабо. Это одна из задач, ради которых мы приехали.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 «ноль байт наружу» сказать медленно и отдельно. Камера на человеке — это всегда вопрос, куда уходит запись. Ответ: никуда, всё остаётся на карте памяти внутри устройства, и распоряжается ею только владелец.
Если спросят про записи прогулок — да, они ведутся, и это осознанно: без них невозможно разобрать, почему устройство промолчало. Передаются они только по отдельной договорённости и с согласия человека.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— про доверие, и для специалистов центра он важнее любых метрик.
Правило простое: любой отказ, который устройство способно заметить, оно произносит вслух. Тихо сломаться оно не должно.
Живой пример для рассказа: однажды камера продолжала отдавать кадры, но все они были чёрными. Формально всё работало. Нашли по записи прогулки и добавили проверку — теперь устройство в такой ситуации говорит «Камера не видит».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совместной работы это ключевая вещь.
Обычная беда испытаний: человек говорит «вот здесь оно меня не предупредило», а проверить нечем. Здесь есть ролик, где видно кадр, слышно голос устройства и видно время. Спор превращается в разбор.
Повторный прогон означает, что после доработки не нужно снова выводить человека на улицу — прогоняем ту же запись и сравниваем. Это экономит время испытуемых.
Про хранение записей договориться отдельно: кто хранит, как долго, кто имеет доступ.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ПОДГОТОВКА НАКАНУНЕ:
— зарядить гарнитуру полностью;
— проверить, что микрофоны действительно пишут (тишина в записи выглядит так же, как исправный микрофон в тихой комнате);
— проверить кэш озвучки, иначе каждая фраза будет рождаться пять секунд;
— свободное место на карте памяти: меньше двух гигабайт — запись прогулки остановится;
— взять готовый ролик прогулки по городу как запасной вариант.
ПОРЯДОК выбран так, чтобы самый надёжный сюжет шёл первым, а самый капризный последним. Ладонь на объективе почти всегда производит впечатление.
ЕСЛИ ЗАЛ ШУМНЫЙ — голос из наушника слышу только я. Заранее решить, как вывести звук на всех, или пересказывать вслух каждую фразу сразу после того, как она прозвучала.
ЕСЛИ ЧТО-ТО СОРВЁТСЯ — не чинить при зале дольше минуты. Переходить к записи и вернуться к живому показу после доклада.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слайд-просьба, ради него весь доклад.
По каждому пункту получить конкретику, а не общее согласие: кто будет контактным человеком, сколько участников реально возможно, в какие дни удобно выходить на улицу.
Про прямую связь сказать мягко, но обязательно: через официальные каналы вопрос решается неделями, а спрашивать по мелочи нужно каждые несколько дней.
Закончить датой: когда мы приедем в следующий раз и с чем.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Оставить время на вопросы — они ценнее доклада.
Завести лист и записывать при зале, вслух проговаривая «записываю». Это видно и располагает.
Ожидаемые вопросы:
— сколько стоит и когда можно купить (честно: это работа университета, не товар);
— куда уходит видео (никуда, всё внутри устройства);
— сколько держит батарея (измерить заранее и назвать число);
— можно ли пользоваться с остатком зрения (да, и это отдельная группа испытаний);
— что с дождём и снегом (не проверяли — так и сказать).
Перед уходом обязательно: контактный человек, его телефон, дата следующего приезда.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960120"/>
            <a:ext cx="4114800" cy="41148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783080"/>
            <a:ext cx="1554480" cy="2468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366760" y="2743200"/>
            <a:ext cx="603504" cy="603504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4776" y="2880360"/>
            <a:ext cx="347472" cy="32918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0149840" y="1600200"/>
            <a:ext cx="603504" cy="603504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56" y="1737360"/>
            <a:ext cx="347472" cy="329184"/>
          </a:xfrm>
          <a:prstGeom prst="rect">
            <a:avLst/>
          </a:prstGeom>
        </p:spPr>
      </p:pic>
      <p:pic>
        <p:nvPicPr>
          <p:cNvPr id="8" name="Image 3" descr="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02920"/>
            <a:ext cx="1600200" cy="621792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822960" y="18288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BlindNav</a:t>
            </a:r>
            <a:endParaRPr lang="en-US" sz="6000" dirty="0"/>
          </a:p>
        </p:txBody>
      </p:sp>
      <p:sp>
        <p:nvSpPr>
          <p:cNvPr id="10" name="Text 4"/>
          <p:cNvSpPr txBox="1"/>
          <p:nvPr/>
        </p:nvSpPr>
        <p:spPr>
          <a:xfrm>
            <a:off x="822960" y="30175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Носимое устройство, которое вслух предупреждает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препятствиях и ведёт по маршруту</a:t>
            </a:r>
            <a:endParaRPr lang="en-US" sz="1900" dirty="0"/>
          </a:p>
        </p:txBody>
      </p:sp>
      <p:sp>
        <p:nvSpPr>
          <p:cNvPr id="11" name="Shape 5"/>
          <p:cNvSpPr/>
          <p:nvPr/>
        </p:nvSpPr>
        <p:spPr>
          <a:xfrm>
            <a:off x="822960" y="416052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822960" y="4160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без интернета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822960" y="5212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8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Санкт-Петербургский государственный университет аэрокосмического приборостроения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88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Выпускная квалификационная работа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не хватает белой трости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замена трости, а второй источник информации — на несколько метров вперёд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10512" y="2148840"/>
            <a:ext cx="1097280" cy="109728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696" y="24780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3429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Трость находит препятствие в шаге от него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45262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Ветка на уровне лица, открытый багажник, зеркало машины остаются незамеченными.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13832" y="2148840"/>
            <a:ext cx="1097280" cy="109728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47802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63440" y="3429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Телефон требует сети, руки и внимания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45262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занимает руку, которая нужна трости, и требует слушать экран, а не улицу.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17152" y="2148840"/>
            <a:ext cx="1097280" cy="109728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247802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4290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Предупреждение нужно заранее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52628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успеть остановиться или обойти — за несколько метров, а не в момент касания.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состоит устройство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шаг работы не требует интернета или мобильной сети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84248"/>
            <a:ext cx="621792" cy="621792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0786"/>
            <a:ext cx="248717" cy="24871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9476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Камера на груди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3134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Смотрит вперёд и немного вниз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907792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063240"/>
            <a:ext cx="621792" cy="621792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50" y="3249778"/>
            <a:ext cx="248717" cy="24871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91640" y="30266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Мини-компьютер</a:t>
            </a:r>
            <a:endParaRPr lang="en-US" sz="1650" dirty="0"/>
          </a:p>
        </p:txBody>
      </p:sp>
      <p:sp>
        <p:nvSpPr>
          <p:cNvPr id="13" name="Text 9"/>
          <p:cNvSpPr txBox="1"/>
          <p:nvPr/>
        </p:nvSpPr>
        <p:spPr>
          <a:xfrm>
            <a:off x="1691640" y="3392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идёт прямо на нём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986784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4142232"/>
            <a:ext cx="621792" cy="621792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4328770"/>
            <a:ext cx="248717" cy="24871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91640" y="41056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Гарнитура</a:t>
            </a:r>
            <a:endParaRPr lang="en-US" sz="1650" dirty="0"/>
          </a:p>
        </p:txBody>
      </p:sp>
      <p:sp>
        <p:nvSpPr>
          <p:cNvPr id="18" name="Text 13"/>
          <p:cNvSpPr txBox="1"/>
          <p:nvPr/>
        </p:nvSpPr>
        <p:spPr>
          <a:xfrm>
            <a:off x="1691640" y="447141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звучит в ухо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065776"/>
            <a:ext cx="5486400" cy="932688"/>
          </a:xfrm>
          <a:prstGeom prst="roundRect">
            <a:avLst>
              <a:gd name="adj" fmla="val 784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5221224"/>
            <a:ext cx="621792" cy="621792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650" y="5407762"/>
            <a:ext cx="248717" cy="24871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91640" y="5184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Кнопка</a:t>
            </a:r>
            <a:endParaRPr lang="en-US" sz="1650" dirty="0"/>
          </a:p>
        </p:txBody>
      </p:sp>
      <p:sp>
        <p:nvSpPr>
          <p:cNvPr id="23" name="Text 17"/>
          <p:cNvSpPr txBox="1"/>
          <p:nvPr/>
        </p:nvSpPr>
        <p:spPr>
          <a:xfrm>
            <a:off x="1691640" y="55504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Одно нажатие — начать маршрут</a:t>
            </a:r>
            <a:endParaRPr lang="en-US" sz="1250" dirty="0"/>
          </a:p>
        </p:txBody>
      </p:sp>
      <p:pic>
        <p:nvPicPr>
          <p:cNvPr id="24" name="Image 4" descr="img/pg-008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1828800"/>
            <a:ext cx="4983480" cy="31546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537960" y="512064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Вычислительный модуль Orange Pi 3B — размером с ладонь. Именно он распознаёт объекты и синтезирует речь.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человек слышит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Короткая фраза про одну цель — ту, которая опаснее остальных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406640" cy="1371600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8288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«Человек слева, три метра»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7406640" cy="1371600"/>
          </a:xfrm>
          <a:prstGeom prst="roundRect">
            <a:avLst>
              <a:gd name="adj" fmla="val 8000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42900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«Машина прямо, пять метров»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549640" y="2011680"/>
            <a:ext cx="1371600" cy="1371600"/>
          </a:xfrm>
          <a:prstGeom prst="ellipse">
            <a:avLst/>
          </a:prstGeom>
          <a:solidFill>
            <a:srgbClr val="FBEFD8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2423160"/>
            <a:ext cx="548640" cy="5486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7124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86800" y="365760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то, что ближе семи метров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448970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686800" y="44348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цель за раз, без перечислений</a:t>
            </a:r>
            <a:endParaRPr lang="en-US" sz="13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526694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0" y="52120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приближается — звучит сразу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640080" y="502920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Фраза начинает звучать через сотые доли секунды: заранее известные реплики синтезированы один раз и лежат готовыми.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выглядит в кадре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кадр с прогулки по городу — то, что устройство видело в эту секунду</a:t>
            </a:r>
            <a:endParaRPr lang="en-US" sz="1400" dirty="0"/>
          </a:p>
        </p:txBody>
      </p:sp>
      <p:pic>
        <p:nvPicPr>
          <p:cNvPr id="4" name="Image 0" descr="img/pg-0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598932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49440" y="1783080"/>
            <a:ext cx="4572000" cy="1234440"/>
          </a:xfrm>
          <a:prstGeom prst="roundRect">
            <a:avLst>
              <a:gd name="adj" fmla="val 5926"/>
            </a:avLst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78040" y="178308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«Человек слева, пять метров»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967728" y="3364992"/>
            <a:ext cx="182880" cy="182880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0" y="3291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Зелёная рамка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36210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цель, о которой оно скажет вслух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967728" y="4325112"/>
            <a:ext cx="182880" cy="182880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0" y="4251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Цифра рядом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45811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 до объекта в метрах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967728" y="5285232"/>
            <a:ext cx="182880" cy="182880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0" y="5212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Синие рамки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55412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видит, но молчит: далеко или неопасно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6035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Разметка накладывается прямо во время прогулки — и сохраняется в записи.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Зона внимания устройства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 сверху: о чём оно говорит, а о чём молчит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23444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справа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10800000">
            <a:off x="1234440" y="2468880"/>
            <a:ext cx="5486400" cy="2834640"/>
          </a:xfrm>
          <a:prstGeom prst="triangle">
            <a:avLst/>
          </a:prstGeom>
          <a:solidFill>
            <a:srgbClr val="E4EBF5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0800000">
            <a:off x="3063240" y="2468880"/>
            <a:ext cx="1828800" cy="2834640"/>
          </a:xfrm>
          <a:prstGeom prst="triangle">
            <a:avLst/>
          </a:prstGeom>
          <a:solidFill>
            <a:srgbClr val="D6E0EE"/>
          </a:solidFill>
          <a:ln w="12700">
            <a:solidFill>
              <a:srgbClr val="C9D6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3099816"/>
            <a:ext cx="4297680" cy="0"/>
          </a:xfrm>
          <a:prstGeom prst="line">
            <a:avLst/>
          </a:prstGeom>
          <a:noFill/>
          <a:ln w="19050">
            <a:solidFill>
              <a:srgbClr val="2E7D5B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6199632" y="2953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метров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63240" y="4361688"/>
            <a:ext cx="1828800" cy="0"/>
          </a:xfrm>
          <a:prstGeom prst="line">
            <a:avLst/>
          </a:prstGeom>
          <a:noFill/>
          <a:ln w="12700">
            <a:solidFill>
              <a:srgbClr val="CBD4E0"/>
            </a:solidFill>
            <a:prstDash val="sysDot"/>
          </a:ln>
        </p:spPr>
      </p:sp>
      <p:sp>
        <p:nvSpPr>
          <p:cNvPr id="13" name="Text 11"/>
          <p:cNvSpPr txBox="1"/>
          <p:nvPr/>
        </p:nvSpPr>
        <p:spPr>
          <a:xfrm>
            <a:off x="4983480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метра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3931920"/>
            <a:ext cx="310896" cy="53035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3429000"/>
            <a:ext cx="566928" cy="50292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246120"/>
            <a:ext cx="457200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560320"/>
            <a:ext cx="512064" cy="457200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2560320"/>
            <a:ext cx="512064" cy="45720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3675888" y="5138928"/>
            <a:ext cx="603504" cy="603504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056" y="5257800"/>
            <a:ext cx="201168" cy="3657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68680" y="5440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894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серым — то, что дальше семи метров: устройство это видит, но не озвучивает</a:t>
            </a:r>
            <a:endParaRPr lang="en-US" sz="1050" dirty="0"/>
          </a:p>
        </p:txBody>
      </p:sp>
      <p:sp>
        <p:nvSpPr>
          <p:cNvPr id="22" name="Shape 14"/>
          <p:cNvSpPr/>
          <p:nvPr/>
        </p:nvSpPr>
        <p:spPr>
          <a:xfrm>
            <a:off x="7680960" y="1874520"/>
            <a:ext cx="777240" cy="7772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4132" y="2107692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8641080" y="1892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Ближняя зона</a:t>
            </a:r>
            <a:endParaRPr lang="en-US" sz="1700" dirty="0"/>
          </a:p>
        </p:txBody>
      </p:sp>
      <p:sp>
        <p:nvSpPr>
          <p:cNvPr id="25" name="Text 16"/>
          <p:cNvSpPr txBox="1"/>
          <p:nvPr/>
        </p:nvSpPr>
        <p:spPr>
          <a:xfrm>
            <a:off x="8641080" y="229514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семи метров — там, где ещё можно среагировать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7680960" y="3246120"/>
            <a:ext cx="777240" cy="7772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4132" y="3479292"/>
            <a:ext cx="310896" cy="310896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641080" y="3264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Сторона</a:t>
            </a:r>
            <a:endParaRPr lang="en-US" sz="1700" dirty="0"/>
          </a:p>
        </p:txBody>
      </p:sp>
      <p:sp>
        <p:nvSpPr>
          <p:cNvPr id="29" name="Text 19"/>
          <p:cNvSpPr txBox="1"/>
          <p:nvPr/>
        </p:nvSpPr>
        <p:spPr>
          <a:xfrm>
            <a:off x="8641080" y="366674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Слева, прямо или справа; «прямо» важнее краёв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7680960" y="4617720"/>
            <a:ext cx="777240" cy="7772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4132" y="4850892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8641080" y="46360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Сближение</a:t>
            </a:r>
            <a:endParaRPr lang="en-US" sz="1700" dirty="0"/>
          </a:p>
        </p:txBody>
      </p:sp>
      <p:sp>
        <p:nvSpPr>
          <p:cNvPr id="33" name="Text 22"/>
          <p:cNvSpPr txBox="1"/>
          <p:nvPr/>
        </p:nvSpPr>
        <p:spPr>
          <a:xfrm>
            <a:off x="8641080" y="5038344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приближается быстро, объявляется раньше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оно узнаёт на улице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Десять классов городских объектов; восемь из них могут быть препятствием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9032" y="21305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432304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27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Человек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429000" y="18745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87952" y="21305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432304"/>
            <a:ext cx="402336" cy="4023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66160" y="3227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Машина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17920" y="18745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976872" y="21305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438644" y="2432304"/>
            <a:ext cx="82296" cy="452628"/>
          </a:xfrm>
          <a:prstGeom prst="roundRect">
            <a:avLst>
              <a:gd name="adj" fmla="val 500000"/>
            </a:avLst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24344" y="2351837"/>
            <a:ext cx="310896" cy="155448"/>
          </a:xfrm>
          <a:prstGeom prst="ellipse">
            <a:avLst/>
          </a:prstGeom>
          <a:solidFill>
            <a:srgbClr val="12203A"/>
          </a:solidFill>
          <a:ln w="12700">
            <a:solidFill>
              <a:srgbClr val="12203A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355080" y="3227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Столб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9006840" y="18745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765792" y="21305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7544" y="2432304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9144000" y="32278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Знак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39319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399032" y="41879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0784" y="4489704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7240" y="5285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Светофор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3429000" y="39319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187952" y="41879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704" y="4489704"/>
            <a:ext cx="402336" cy="40233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3566160" y="5285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Бордюр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217920" y="39319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976872" y="41879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4" y="4489704"/>
            <a:ext cx="402336" cy="40233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355080" y="5285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Урна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9006840" y="393192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9765792" y="4187952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7544" y="4489704"/>
            <a:ext cx="402336" cy="40233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144000" y="528523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Скамья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Ещё два класса — тротуар и пешеходный переход: устройство различает их как поверхность под ногами, а не как препятствие.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происходит между кадром и голосом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путь занимает доли секунды и целиком проходит внутри устройства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9032" y="2240280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0784" y="25420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383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Кадр с камеры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2219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восемнадцать раз в секунду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3154680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429000" y="19659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87952" y="2240280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25420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3383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Распознавание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382219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нейросеть находит объекты и их размер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5943600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217920" y="19659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976872" y="2240280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254203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55080" y="3383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опасности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382219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ближе, крупнее и приближается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732520" y="3246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9006840" y="1965960"/>
            <a:ext cx="2514600" cy="3017520"/>
          </a:xfrm>
          <a:prstGeom prst="roundRect">
            <a:avLst>
              <a:gd name="adj" fmla="val 290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765792" y="2240280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7544" y="2542032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144000" y="338328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Голос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9235440" y="382219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фраза про одну цель — самую опасную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640080" y="5349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BEFD8"/>
          </a:solidFill>
          <a:ln w="12700">
            <a:solidFill>
              <a:srgbClr val="FBEFD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1005840" y="53492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шаг не уходит в сеть: ни кадр, ни голос, ни адрес. Устройство одинаково работает в центре города и в подземном переходе.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Дорога до адреса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города лежит внутри устройства — маршрут строится без сети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2148840"/>
            <a:ext cx="914400" cy="9144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2461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Нажатие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кнопки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688336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871216" y="187452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38144" y="2148840"/>
            <a:ext cx="914400" cy="9144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423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08376" y="32461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«Назовите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адрес»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919472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102352" y="187452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69280" y="2148840"/>
            <a:ext cx="914400" cy="9144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4231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239512" y="32461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Человек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говорит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150608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7333488" y="187452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00416" y="2148840"/>
            <a:ext cx="914400" cy="9144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4736" y="24231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70648" y="32461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Устройство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уточняет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381744" y="2743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9564624" y="187452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131552" y="2148840"/>
            <a:ext cx="914400" cy="91440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5872" y="242316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9701784" y="32461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Ведёт</a:t>
            </a:r>
            <a:endParaRPr lang="en-US" sz="1500" dirty="0"/>
          </a:p>
          <a:p>
            <a:pPr algn="ctr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шагам</a:t>
            </a:r>
            <a:endParaRPr lang="en-US" sz="1500" dirty="0"/>
          </a:p>
        </p:txBody>
      </p:sp>
      <p:sp>
        <p:nvSpPr>
          <p:cNvPr id="28" name="Shape 21"/>
          <p:cNvSpPr/>
          <p:nvPr/>
        </p:nvSpPr>
        <p:spPr>
          <a:xfrm>
            <a:off x="640080" y="47091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960120" y="48646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Уточнение адреса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960120" y="523036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повторяет адрес вслух и ждёт подтверждения, прежде чем строить маршрут.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126480" y="470916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BEFD8"/>
          </a:solidFill>
          <a:ln w="12700">
            <a:solidFill>
              <a:srgbClr val="FBEFD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46520" y="4864608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 важнее навигации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6446520" y="5230368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Предупреждение о препятствии обрывает подсказку маршрута на полуслове.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Проверено на реальном маршруте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470 метров по городу: маршрут построен и озвучен без единого обращения в сеть</a:t>
            </a:r>
            <a:endParaRPr lang="en-US" sz="1400" dirty="0"/>
          </a:p>
        </p:txBody>
      </p:sp>
      <p:pic>
        <p:nvPicPr>
          <p:cNvPr id="4" name="Image 0" descr="img/pg-0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4343400" cy="40782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943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Пройденный маршрут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40680" y="1783080"/>
            <a:ext cx="6080760" cy="4078224"/>
          </a:xfrm>
          <a:prstGeom prst="roundRect">
            <a:avLst>
              <a:gd name="adj" fmla="val 1794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806440" y="201168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прозвучало в наушнике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852160" y="2651760"/>
            <a:ext cx="310896" cy="310896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6060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«Двигайтесь прямо»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852160" y="3218688"/>
            <a:ext cx="310896" cy="310896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0" y="3218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31729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«Поверните налево»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852160" y="3785616"/>
            <a:ext cx="310896" cy="310896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37856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355080" y="373989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«Поверните направо»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852160" y="4352544"/>
            <a:ext cx="310896" cy="310896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852160" y="43525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355080" y="43068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«Поверните направо»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852160" y="4919472"/>
            <a:ext cx="310896" cy="310896"/>
          </a:xfrm>
          <a:prstGeom prst="ellipse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85216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355080" y="48737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«Прибытие к пункту назначения»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806440" y="53218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города лежит в самом устройстве — маршрут строится в любом районе без сети.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цифры, которые стоит запомнить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1488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772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кадров в секунду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дорога осматривается восемнадцать раз в секунду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83280" y="182880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488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5204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200" dirty="0"/>
          </a:p>
        </p:txBody>
      </p:sp>
      <p:sp>
        <p:nvSpPr>
          <p:cNvPr id="11" name="Text 7"/>
          <p:cNvSpPr txBox="1"/>
          <p:nvPr/>
        </p:nvSpPr>
        <p:spPr>
          <a:xfrm>
            <a:off x="352044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метров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61188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 зоны, о которой оно предупреждает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82880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21488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2636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6" name="Text 11"/>
          <p:cNvSpPr txBox="1"/>
          <p:nvPr/>
        </p:nvSpPr>
        <p:spPr>
          <a:xfrm>
            <a:off x="626364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байт наружу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 и звук остаются внутри устройства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869680" y="1828800"/>
            <a:ext cx="2560320" cy="338328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0" y="214884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06840" y="26060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0,05</a:t>
            </a:r>
            <a:endParaRPr lang="en-US" sz="5200" dirty="0"/>
          </a:p>
        </p:txBody>
      </p:sp>
      <p:sp>
        <p:nvSpPr>
          <p:cNvPr id="21" name="Text 15"/>
          <p:cNvSpPr txBox="1"/>
          <p:nvPr/>
        </p:nvSpPr>
        <p:spPr>
          <a:xfrm>
            <a:off x="9006840" y="3566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секунды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9098280" y="40233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от решения до первого звука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интернета, ни сим-карты: в подземном переходе устройство работает так же, как в центре города.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Человек всегда знает, что с прибором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сообщает о себе голосом — молчание не должно быть двусмысленным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6232" y="2148840"/>
            <a:ext cx="1005840" cy="1005840"/>
          </a:xfrm>
          <a:prstGeom prst="ellipse">
            <a:avLst/>
          </a:prstGeom>
          <a:solidFill>
            <a:srgbClr val="E3F0EA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7984" y="24505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Готово к работе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38862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Объявляет о себе при включении и после каждого восстановления.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9552" y="2148840"/>
            <a:ext cx="1005840" cy="1005840"/>
          </a:xfrm>
          <a:prstGeom prst="ellipse">
            <a:avLst/>
          </a:prstGeom>
          <a:solidFill>
            <a:srgbClr val="FBEFD8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4505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«Камера не видит»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38862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Объектив закрыт или темно — скажет об этом и повторит, пока не прозреет.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82880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62872" y="2148840"/>
            <a:ext cx="1005840" cy="100584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4624" y="24505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33375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Само восстанавливается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8862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Связь, питание, служба: поднимается за секунды и сообщает об этом.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Незрячий человек не может посмотреть на экран и проверить, работает ли прибор. Значит, прибор говорит об этом сам.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Каждая прогулка сохраняется целиком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разбирать пройденный маршрут по записи, а не по памяти</a:t>
            </a:r>
            <a:endParaRPr lang="en-US" sz="1400" dirty="0"/>
          </a:p>
        </p:txBody>
      </p:sp>
      <p:pic>
        <p:nvPicPr>
          <p:cNvPr id="4" name="Image 0" descr="img/pg-0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7168" y="1783080"/>
            <a:ext cx="3438144" cy="2560320"/>
          </a:xfrm>
          <a:prstGeom prst="rect">
            <a:avLst/>
          </a:prstGeom>
        </p:spPr>
      </p:pic>
      <p:pic>
        <p:nvPicPr>
          <p:cNvPr id="5" name="Image 1" descr="img/pg-02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783080"/>
            <a:ext cx="3438144" cy="2560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44348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кадры прогулки с разметкой — что именно устройство видело в этот момент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85800" y="50543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66851" y="5026914"/>
            <a:ext cx="100584" cy="96012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47902" y="4992624"/>
            <a:ext cx="100584" cy="164592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228954" y="5013198"/>
            <a:ext cx="100584" cy="12344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410005" y="5040630"/>
            <a:ext cx="100584" cy="68580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591056" y="4978908"/>
            <a:ext cx="100584" cy="19202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772107" y="4924044"/>
            <a:ext cx="100584" cy="301752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953158" y="4862322"/>
            <a:ext cx="100584" cy="425196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134210" y="4896612"/>
            <a:ext cx="100584" cy="356616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315261" y="4951476"/>
            <a:ext cx="100584" cy="246888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496312" y="5013198"/>
            <a:ext cx="100584" cy="123444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677363" y="50474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858414" y="5033772"/>
            <a:ext cx="100584" cy="82296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039466" y="4999482"/>
            <a:ext cx="100584" cy="150876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20517" y="5020056"/>
            <a:ext cx="100584" cy="10972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401568" y="50474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82619" y="50543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763670" y="5013198"/>
            <a:ext cx="100584" cy="12344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944722" y="4958334"/>
            <a:ext cx="100584" cy="233172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125773" y="4882896"/>
            <a:ext cx="100584" cy="384048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306824" y="4834890"/>
            <a:ext cx="100584" cy="48006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487875" y="4869180"/>
            <a:ext cx="100584" cy="41148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668926" y="4930902"/>
            <a:ext cx="100584" cy="288036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849978" y="4985766"/>
            <a:ext cx="100584" cy="178308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031029" y="5026914"/>
            <a:ext cx="100584" cy="96012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5212080" y="50474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5393131" y="50543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5574182" y="5040630"/>
            <a:ext cx="100584" cy="68580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755234" y="5013198"/>
            <a:ext cx="100584" cy="12344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936285" y="5033772"/>
            <a:ext cx="100584" cy="82296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117336" y="50474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298387" y="5020056"/>
            <a:ext cx="100584" cy="10972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6479438" y="4972050"/>
            <a:ext cx="100584" cy="205740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660490" y="4910328"/>
            <a:ext cx="100584" cy="32918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841541" y="4848606"/>
            <a:ext cx="100584" cy="452628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022592" y="4889754"/>
            <a:ext cx="100584" cy="370332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203643" y="4944618"/>
            <a:ext cx="100584" cy="260604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7384694" y="4999482"/>
            <a:ext cx="100584" cy="150876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7565746" y="5033772"/>
            <a:ext cx="100584" cy="82296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746797" y="50543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927848" y="50474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8108899" y="5026914"/>
            <a:ext cx="100584" cy="96012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8289950" y="4985766"/>
            <a:ext cx="100584" cy="17830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8471002" y="5006340"/>
            <a:ext cx="100584" cy="137160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8652053" y="5040630"/>
            <a:ext cx="100584" cy="68580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8833104" y="50543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9014155" y="5033772"/>
            <a:ext cx="100584" cy="82296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9195206" y="4992624"/>
            <a:ext cx="100584" cy="164592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9376258" y="4937760"/>
            <a:ext cx="100584" cy="274320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9557309" y="4876038"/>
            <a:ext cx="100584" cy="397764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9738360" y="4910328"/>
            <a:ext cx="100584" cy="329184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919411" y="4965192"/>
            <a:ext cx="100584" cy="219456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100462" y="5013198"/>
            <a:ext cx="100584" cy="123444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0281514" y="5040630"/>
            <a:ext cx="100584" cy="68580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0462565" y="50543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10643616" y="50474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10824667" y="5020056"/>
            <a:ext cx="100584" cy="10972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11005718" y="5033772"/>
            <a:ext cx="100584" cy="82296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11186770" y="5047488"/>
            <a:ext cx="100584" cy="5486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11367821" y="5054346"/>
            <a:ext cx="100584" cy="41148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3291840" y="5596128"/>
            <a:ext cx="146304" cy="146304"/>
          </a:xfrm>
          <a:prstGeom prst="rect">
            <a:avLst/>
          </a:prstGeom>
          <a:solidFill>
            <a:srgbClr val="F2A413"/>
          </a:solidFill>
          <a:ln w="12700">
            <a:solidFill>
              <a:srgbClr val="F2A413"/>
            </a:solidFill>
            <a:prstDash val="solid"/>
          </a:ln>
        </p:spPr>
      </p:sp>
      <p:sp>
        <p:nvSpPr>
          <p:cNvPr id="68" name="Text 64"/>
          <p:cNvSpPr txBox="1"/>
          <p:nvPr/>
        </p:nvSpPr>
        <p:spPr>
          <a:xfrm>
            <a:off x="3566160" y="5513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устройства</a:t>
            </a:r>
            <a:endParaRPr lang="en-US" sz="1250" dirty="0"/>
          </a:p>
        </p:txBody>
      </p:sp>
      <p:sp>
        <p:nvSpPr>
          <p:cNvPr id="69" name="Shape 65"/>
          <p:cNvSpPr/>
          <p:nvPr/>
        </p:nvSpPr>
        <p:spPr>
          <a:xfrm>
            <a:off x="6126480" y="5596128"/>
            <a:ext cx="146304" cy="146304"/>
          </a:xfrm>
          <a:prstGeom prst="rect">
            <a:avLst/>
          </a:prstGeom>
          <a:solidFill>
            <a:srgbClr val="CBD4E0"/>
          </a:solidFill>
          <a:ln w="12700">
            <a:solidFill>
              <a:srgbClr val="CBD4E0"/>
            </a:solidFill>
            <a:prstDash val="solid"/>
          </a:ln>
        </p:spPr>
      </p:sp>
      <p:sp>
        <p:nvSpPr>
          <p:cNvPr id="70" name="Text 66"/>
          <p:cNvSpPr txBox="1"/>
          <p:nvPr/>
        </p:nvSpPr>
        <p:spPr>
          <a:xfrm>
            <a:off x="6400800" y="55138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голос человека и улица</a:t>
            </a:r>
            <a:endParaRPr lang="en-US" sz="1250" dirty="0"/>
          </a:p>
        </p:txBody>
      </p:sp>
      <p:sp>
        <p:nvSpPr>
          <p:cNvPr id="71" name="Shape 67"/>
          <p:cNvSpPr/>
          <p:nvPr/>
        </p:nvSpPr>
        <p:spPr>
          <a:xfrm>
            <a:off x="640080" y="598932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BEFD8"/>
          </a:solidFill>
          <a:ln w="12700">
            <a:solidFill>
              <a:srgbClr val="FBEFD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72" name="Text 68"/>
          <p:cNvSpPr txBox="1"/>
          <p:nvPr/>
        </p:nvSpPr>
        <p:spPr>
          <a:xfrm>
            <a:off x="1005840" y="598932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Записанную прогулку можно прогнать через устройство заново — с теми же паузами и тем же голосом.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Показываем вживую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коротких сюжета, минут на десять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58568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5466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Надеваем и включаем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8072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объявляет, что готово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258568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6" y="254660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210312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Проходим мимо препятствия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26680" y="280720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Слушаем, что и когда оно скажет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70248"/>
            <a:ext cx="960120" cy="960120"/>
          </a:xfrm>
          <a:prstGeom prst="ellipse">
            <a:avLst/>
          </a:prstGeom>
          <a:solidFill>
            <a:srgbClr val="FBEFD8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" y="455828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03120" y="4114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Закрываем объектив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103120" y="4818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Устройство говорит, что перестало видеть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70248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716" y="455828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26680" y="4114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Просим маршрут голосом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726680" y="48188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Кнопка, адрес, уточнение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помещении спутники не ловятся — маршрут тогда смотрим по записи прогулки по городу.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Сейчас мы собираем обратную связь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7043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устройство улучшается рядом с теми, кто им пользуется, а не в лаборатории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8156" y="252831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03120" y="20574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Прогулки в реальных условиях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7614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Ваши маршруты, ваша погода, разное время суток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288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240280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6" y="252831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26680" y="20574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Участники разных групп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26680" y="27614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Возраст, степень потери зрения, опыт самостоятельных выходов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97680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" y="458571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103120" y="4114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Ваша экспертиза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2103120" y="48188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должно звучать, какими словами и как часто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63640" y="388620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297680"/>
            <a:ext cx="960120" cy="960120"/>
          </a:xfrm>
          <a:prstGeom prst="ellipse">
            <a:avLst/>
          </a:prstGeom>
          <a:solidFill>
            <a:srgbClr val="E8EDF5"/>
          </a:solidFill>
          <a:ln w="12700">
            <a:solidFill>
              <a:srgbClr val="D8E0E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716" y="45857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26680" y="4114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Прямая связь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7726680" y="481888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Контактный человек с обеих сторон, без официальной переписки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Программу испытаний с группами участников и протоколом мы готовим отдельно и хотим согласовать её с вами.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pg-0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82880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3816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код проекта</a:t>
            </a:r>
            <a:endParaRPr lang="en-US" sz="125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0116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1089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3A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Отвечу на вопросы — и запишу всё, что вы назовёте недостающим.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22960" y="411480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B5">
                <a:alpha val="2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1143000" y="4343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Валентина Синицына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4754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ГУАП · v.a.sinitsina@evm.eco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BlindNav — возможности устройства</dc:title>
  <dc:subject>PptxGenJS Presentation</dc:subject>
  <dc:creator>Валентина Синицына</dc:creator>
  <cp:lastModifiedBy>Валентина Синицына</cp:lastModifiedBy>
  <cp:revision>1</cp:revision>
  <dcterms:created xsi:type="dcterms:W3CDTF">2026-09-07T07:22:33Z</dcterms:created>
  <dcterms:modified xsi:type="dcterms:W3CDTF">2026-09-07T07:22:33Z</dcterms:modified>
</cp:coreProperties>
</file>