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Аудитория — специалисты центра и заинтересованные слушатели, среди них могут быть незрячие. Всё, что показываю на экране, проговариваю вслух: слайды здесь — опора для меня, а не для зала.
Представиться, назвать одной фразой суть: устройство висит на человеке, смотрит вперёд и говорит в наушник о том, что мешает идти. Работает целиком офлайн.
Регламент: 10-15 минут о том, что устройство умеет, потом живая демонстрация, потом обсуждение — мы приехали за обратной связью, и её сбор для нас важнее самого доклада.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Первым делом сказать вслух: это не замена трости. Трость даёт опору и информацию о покрытии под ногами, устройство — о том, что впереди на уровне корпуса и головы.
Если в зале есть незрячие — спросить, узнают ли они эти три ситуации и какую четвёртую назвали бы. Ответ полезнее любого моего слайда: записать и увезти с собой.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сам комплект в руках, дать потрогать — это работает лучше слайда.
Про наушники сказать честно: обычные затычки закрывают слух, а незрячему человеку слух нужен весь. Правильное направление — костная проводимость или одно ухо; спросить, что в центре считают приемлемым.
Про крепление спросить прямо в зал: камера сейчас ставится на нагрудную обвязку с быстросъёмной площадкой. Магниты через одежду рассматривали и отказались — рядом с грудью нельзя из-за кардиостимуляторов и других имплантов.
Про приватность (нижняя строка): запись хранится на карте памяти внутри устройства и никуда не передаётся. В центре этот вопрос зададут обязательно.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Проиграть фразу вживую, а не читать её с экрана — голос устройства сам по себе половина впечатления.
Почему так мало слов: длинная вежливая фраза приходит к человеку тогда, когда он уже сделал два шага. Формулировки короткие намеренно.
Та же цель не повторяется чаще раза в 12 секунд — это защита от бубнежа. Если объект не приближается, человек про него уже знает.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Смысл слайда не в цифре 7, а в том, что устройство молчит намеренно. Молчание — тоже решение: если говорить обо всём, что видно, человек перестаёт слушать.
Семь метров — расстояние, на котором пешеходным темпом ещё есть время среагировать. Величина настраивается, и это первый вопрос, который я хочу задать специалистам: не мало ли.
Серые машины на схеме — то, что устройство видит, но о чём не говорит.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проговаривать список подряд — он на экране. Сказать главное: набор классов выбран под пешехода, а не под водителя, и он открыт для изменений.
Здесь самое время спросить зал: чего в этом списке не хватает? Ступеньки, люки, лужи, шлагбаумы, самокаты, столбики-ограничители. Записывать при зале вслух — этот список определит, что мы дообучаем следующим, и ради него мы приехали.
Если спросят, одинаково ли хорошо распознаются все восемь: честно — нет, машины и знаки увереннее, светофор пока слабее. Мы это измеряем и дорабатываем.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вживую, если позволяет место. В помещении спутники не ловятся — тогда честно сказать об этом и показать запись прогулки.
Про уточнение адреса: оно появилось после реального случая, когда устройство расслышало не то и построило маршрут не туда — молча. Теперь оно всегда переспрашивает.
Карта сейчас — Санкт-Петербург. Любой другой город добавляется одним файлом.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 «ноль байт наружу» сказать медленно и отдельно. Камера на человеке — это всегда вопрос, куда уходит запись. Ответ: никуда, всё остаётся на карте памяти внутри устройства, и распоряжается ею только владелец.
Если спросят про записи прогулок — да, они ведутся, и это осознанно: без них невозможно разобрать, почему устройство промолчало. Передаются они только по отдельной договорённости и с согласия человека.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— про доверие, и для специалистов центра он важнее любых метрик.
Правило простое: любой отказ, который устройство способно заметить, оно произносит вслух. Тихо сломаться оно не должно.
Живой пример для рассказа: однажды камера продолжала отдавать кадры, но все они были чёрными. Формально всё работало. Нашли по записи прогулки и добавили проверку — теперь устройство в такой ситуации говорит «Камера не видит».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совместной работы это ключевая вещь.
Обычная беда испытаний: человек говорит «вот здесь оно меня не предупредило», а проверить нечем. Здесь есть ролик, где видно кадр, слышно голос устройства и видно время. Спор превращается в разбор.
Повторный прогон означает, что после доработки не нужно снова выводить человека на улицу — прогоняем ту же запись и сравниваем. Это экономит время испытуемых.
Про хранение записей договориться отдельно: кто хранит, как долго, кто имеет доступ.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ПОДГОТОВКА НАКАНУНЕ:
— зарядить гарнитуру полностью;
— проверить, что микрофоны действительно пишут (тишина в записи выглядит так же, как исправный микрофон в тихой комнате);
— проверить кэш озвучки, иначе каждая фраза будет рождаться пять секунд;
— свободное место на карте памяти: меньше двух гигабайт — запись прогулки остановится;
— взять готовый ролик прогулки по городу как запасной вариант.
ПОРЯДОК выбран так, чтобы самый надёжный сюжет шёл первым, а самый капризный последним. Ладонь на объективе почти всегда производит впечатление.
ЕСЛИ ЗАЛ ШУМНЫЙ — голос из наушника слышу только я. Заранее решить, как вывести звук на всех, или пересказывать вслух каждую фразу сразу после того, как она прозвучала.
ЕСЛИ ЧТО-ТО СОРВЁТСЯ — не чинить при зале дольше минуты. Переходить к записи и вернуться к живому показу после доклада.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слайд-просьба, ради него весь доклад.
По каждому пункту получить конкретику, а не общее согласие: кто будет контактным человеком, сколько участников реально возможно, в какие дни удобно выходить на улицу.
Про прямую связь сказать мягко, но обязательно: через официальные каналы вопрос решается неделями, а спрашивать по мелочи нужно каждые несколько дней.
Закончить датой: когда мы приедем в следующий раз и с чем.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Оставить время на вопросы — они ценнее доклада.
Завести лист и записывать при зале, вслух проговаривая «записываю». Это видно и располагает.
Ожидаемые вопросы:
— сколько стоит и когда можно купить (честно: это работа университета, не товар);
— куда уходит видео (никуда, всё внутри устройства);
— сколько держит батарея (измерить заранее и назвать число);
— можно ли пользоваться с остатком зрения (да, и это отдельная группа испытаний);
— что с дождём и снегом (не проверяли — так и сказать).
Перед уходом обязательно: контактный человек, его телефон, дата следующего приезда.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960120"/>
            <a:ext cx="4114800" cy="41148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783080"/>
            <a:ext cx="1554480" cy="2468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66760" y="2743200"/>
            <a:ext cx="603504" cy="603504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776" y="2880360"/>
            <a:ext cx="347472" cy="32918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149840" y="1600200"/>
            <a:ext cx="603504" cy="603504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6" y="1737360"/>
            <a:ext cx="347472" cy="32918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22960" y="18288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BlindNav</a:t>
            </a:r>
            <a:endParaRPr lang="en-US" sz="6000" dirty="0"/>
          </a:p>
        </p:txBody>
      </p:sp>
      <p:sp>
        <p:nvSpPr>
          <p:cNvPr id="9" name="Text 4"/>
          <p:cNvSpPr txBox="1"/>
          <p:nvPr/>
        </p:nvSpPr>
        <p:spPr>
          <a:xfrm>
            <a:off x="822960" y="3017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Носимое устройство, которое вслух предупреждает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препятствиях и ведёт по маршруту</a:t>
            </a:r>
            <a:endParaRPr lang="en-US" sz="1900" dirty="0"/>
          </a:p>
        </p:txBody>
      </p:sp>
      <p:sp>
        <p:nvSpPr>
          <p:cNvPr id="10" name="Shape 5"/>
          <p:cNvSpPr/>
          <p:nvPr/>
        </p:nvSpPr>
        <p:spPr>
          <a:xfrm>
            <a:off x="822960" y="416052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22960" y="4160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без интернета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822960" y="5212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8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Санкт-Петербургский государственный университет аэрокосмического приборостроения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8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не хватает белой трости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замена трости, а второй источник информации — на несколько метров вперёд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10512" y="2148840"/>
            <a:ext cx="1097280" cy="109728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696" y="24780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429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Трость находит препятствие в шаге от него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526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 на уровне лица, открытый багажник, зеркало машины остаются незамеченными.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13832" y="2148840"/>
            <a:ext cx="1097280" cy="109728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4780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429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Телефон требует сети, руки и внимания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526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занимает руку, которая нужна трости, и требует слушать экран, а не улицу.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17152" y="2148840"/>
            <a:ext cx="1097280" cy="109728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247802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429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Предупреждение нужно заранее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526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успеть остановиться или обойти — за несколько метров, а не в момент касания.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устройство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шаг работы не требует интернета или мобильной сети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64608" y="2286000"/>
            <a:ext cx="2468880" cy="246888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697480"/>
            <a:ext cx="9601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6596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313432"/>
            <a:ext cx="777240" cy="7772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2546604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47088" y="22768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Камера на груди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847088" y="2715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вперёд и немного вниз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25112" y="2697480"/>
            <a:ext cx="539496" cy="0"/>
          </a:xfrm>
          <a:prstGeom prst="line">
            <a:avLst/>
          </a:prstGeom>
          <a:noFill/>
          <a:ln w="19050">
            <a:solidFill>
              <a:srgbClr val="CBD4E0"/>
            </a:solidFill>
            <a:prstDash val="sysDot"/>
          </a:ln>
        </p:spPr>
      </p:sp>
      <p:sp>
        <p:nvSpPr>
          <p:cNvPr id="12" name="Shape 8"/>
          <p:cNvSpPr/>
          <p:nvPr/>
        </p:nvSpPr>
        <p:spPr>
          <a:xfrm>
            <a:off x="7863840" y="196596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138160" y="2313432"/>
            <a:ext cx="777240" cy="7772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254660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70848" y="22768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Гарнитура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9070848" y="2715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звучит в ухо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333488" y="2697480"/>
            <a:ext cx="539496" cy="0"/>
          </a:xfrm>
          <a:prstGeom prst="line">
            <a:avLst/>
          </a:prstGeom>
          <a:noFill/>
          <a:ln w="19050">
            <a:solidFill>
              <a:srgbClr val="CBD4E0"/>
            </a:solidFill>
            <a:prstDash val="sysDot"/>
          </a:ln>
        </p:spPr>
      </p:sp>
      <p:sp>
        <p:nvSpPr>
          <p:cNvPr id="18" name="Shape 13"/>
          <p:cNvSpPr/>
          <p:nvPr/>
        </p:nvSpPr>
        <p:spPr>
          <a:xfrm>
            <a:off x="640080" y="425196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4400" y="4599432"/>
            <a:ext cx="777240" cy="7772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" y="4832604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847088" y="45628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Мини-компьютер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847088" y="5001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идёт внутри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325112" y="4983480"/>
            <a:ext cx="539496" cy="0"/>
          </a:xfrm>
          <a:prstGeom prst="line">
            <a:avLst/>
          </a:prstGeom>
          <a:noFill/>
          <a:ln w="19050">
            <a:solidFill>
              <a:srgbClr val="CBD4E0"/>
            </a:solidFill>
            <a:prstDash val="sysDot"/>
          </a:ln>
        </p:spPr>
      </p:sp>
      <p:sp>
        <p:nvSpPr>
          <p:cNvPr id="24" name="Shape 18"/>
          <p:cNvSpPr/>
          <p:nvPr/>
        </p:nvSpPr>
        <p:spPr>
          <a:xfrm>
            <a:off x="7863840" y="425196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138160" y="4599432"/>
            <a:ext cx="777240" cy="7772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332" y="483260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070848" y="45628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Кнопка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070848" y="5001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нажатие — начать маршрут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333488" y="4983480"/>
            <a:ext cx="539496" cy="0"/>
          </a:xfrm>
          <a:prstGeom prst="line">
            <a:avLst/>
          </a:prstGeom>
          <a:noFill/>
          <a:ln w="19050">
            <a:solidFill>
              <a:srgbClr val="CBD4E0"/>
            </a:solidFill>
            <a:prstDash val="sysDot"/>
          </a:ln>
        </p:spPr>
      </p:sp>
      <p:sp>
        <p:nvSpPr>
          <p:cNvPr id="30" name="Text 23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снимает камера, остаётся внутри устройства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человек слышит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фраза про одну цель — ту, которая опаснее остальных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406640" cy="1371600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288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«Человек слева, три метра»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7406640" cy="1371600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4290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«Машина прямо, пять метров»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549640" y="2011680"/>
            <a:ext cx="1371600" cy="1371600"/>
          </a:xfrm>
          <a:prstGeom prst="ellipse">
            <a:avLst/>
          </a:prstGeom>
          <a:solidFill>
            <a:srgbClr val="FBEFD8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2423160"/>
            <a:ext cx="548640" cy="5486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7124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0" y="36576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то, что ближе семи метров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48970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686800" y="44348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цель за раз, без перечислений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526694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52120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приближается — звучит сразу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502920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Фраза начинает звучать через сотые доли секунды: заранее известные реплики синтезированы один раз и лежат готовыми.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Зона внимания устройства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сверху: о чём оно говорит, а о чём молчит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3444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10800000">
            <a:off x="1234440" y="2468880"/>
            <a:ext cx="5486400" cy="2834640"/>
          </a:xfrm>
          <a:prstGeom prst="triangle">
            <a:avLst/>
          </a:prstGeom>
          <a:solidFill>
            <a:srgbClr val="E4EBF5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3063240" y="2468880"/>
            <a:ext cx="1828800" cy="2834640"/>
          </a:xfrm>
          <a:prstGeom prst="triangle">
            <a:avLst/>
          </a:prstGeom>
          <a:solidFill>
            <a:srgbClr val="D6E0EE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3099816"/>
            <a:ext cx="4297680" cy="0"/>
          </a:xfrm>
          <a:prstGeom prst="line">
            <a:avLst/>
          </a:prstGeom>
          <a:noFill/>
          <a:ln w="19050">
            <a:solidFill>
              <a:srgbClr val="2E7D5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199632" y="2953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метров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63240" y="4361688"/>
            <a:ext cx="1828800" cy="0"/>
          </a:xfrm>
          <a:prstGeom prst="line">
            <a:avLst/>
          </a:prstGeom>
          <a:noFill/>
          <a:ln w="12700">
            <a:solidFill>
              <a:srgbClr val="CBD4E0"/>
            </a:solidFill>
            <a:prstDash val="sysDot"/>
          </a:ln>
        </p:spPr>
      </p:sp>
      <p:sp>
        <p:nvSpPr>
          <p:cNvPr id="13" name="Text 11"/>
          <p:cNvSpPr txBox="1"/>
          <p:nvPr/>
        </p:nvSpPr>
        <p:spPr>
          <a:xfrm>
            <a:off x="4983480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метра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3931920"/>
            <a:ext cx="310896" cy="53035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3429000"/>
            <a:ext cx="566928" cy="50292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246120"/>
            <a:ext cx="457200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560320"/>
            <a:ext cx="512064" cy="45720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560320"/>
            <a:ext cx="512064" cy="457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675888" y="5138928"/>
            <a:ext cx="603504" cy="603504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056" y="5257800"/>
            <a:ext cx="201168" cy="3657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6868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серым — то, что дальше семи метров: устройство это видит, но не озвучивает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7680960" y="1874520"/>
            <a:ext cx="777240" cy="7772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4132" y="2107692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641080" y="1892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Ближняя зона</a:t>
            </a:r>
            <a:endParaRPr lang="en-US" sz="1700" dirty="0"/>
          </a:p>
        </p:txBody>
      </p:sp>
      <p:sp>
        <p:nvSpPr>
          <p:cNvPr id="25" name="Text 16"/>
          <p:cNvSpPr txBox="1"/>
          <p:nvPr/>
        </p:nvSpPr>
        <p:spPr>
          <a:xfrm>
            <a:off x="8641080" y="229514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семи метров — там, где ещё можно среагировать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7680960" y="3246120"/>
            <a:ext cx="777240" cy="7772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4132" y="3479292"/>
            <a:ext cx="310896" cy="31089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641080" y="3264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Сторона</a:t>
            </a:r>
            <a:endParaRPr lang="en-US" sz="1700" dirty="0"/>
          </a:p>
        </p:txBody>
      </p:sp>
      <p:sp>
        <p:nvSpPr>
          <p:cNvPr id="29" name="Text 19"/>
          <p:cNvSpPr txBox="1"/>
          <p:nvPr/>
        </p:nvSpPr>
        <p:spPr>
          <a:xfrm>
            <a:off x="8641080" y="366674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Слева, прямо или справа; «прямо» важнее краёв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7680960" y="4617720"/>
            <a:ext cx="777240" cy="7772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4132" y="4850892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8641080" y="4636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Сближение</a:t>
            </a:r>
            <a:endParaRPr lang="en-US" sz="1700" dirty="0"/>
          </a:p>
        </p:txBody>
      </p:sp>
      <p:sp>
        <p:nvSpPr>
          <p:cNvPr id="33" name="Text 22"/>
          <p:cNvSpPr txBox="1"/>
          <p:nvPr/>
        </p:nvSpPr>
        <p:spPr>
          <a:xfrm>
            <a:off x="8641080" y="503834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приближается быстро, объявляется раньше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оно узнаёт на улице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Десять классов городских объектов; восемь из них могут быть препятствием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9032" y="21305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432304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Человек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29000" y="18745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87952" y="21305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43230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Машина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17920" y="18745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976872" y="21305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38644" y="2432304"/>
            <a:ext cx="82296" cy="452628"/>
          </a:xfrm>
          <a:prstGeom prst="roundRect">
            <a:avLst>
              <a:gd name="adj" fmla="val 500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24344" y="2351837"/>
            <a:ext cx="310896" cy="155448"/>
          </a:xfrm>
          <a:prstGeom prst="ellipse">
            <a:avLst/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55080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Столб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006840" y="18745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765792" y="21305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544" y="243230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144000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Знак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399032" y="41879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84" y="4489704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7240" y="5285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Светофор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342900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187952" y="41879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704" y="4489704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566160" y="5285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Бордюр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21792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976872" y="41879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4" y="4489704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355080" y="5285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Урна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900684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9765792" y="41879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544" y="4489704"/>
            <a:ext cx="402336" cy="40233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144000" y="5285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Скамья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два класса — тротуар и пешеходный переход: устройство различает их как поверхность под ногами, а не как препятствие.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Дорога до адреса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города лежит внутри устройства — маршрут строится без сети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2148840"/>
            <a:ext cx="914400" cy="9144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461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Нажатие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кнопки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688336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871216" y="187452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38144" y="2148840"/>
            <a:ext cx="914400" cy="9144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423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08376" y="32461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«Назовите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адрес»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919472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102352" y="187452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69280" y="2148840"/>
            <a:ext cx="914400" cy="9144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423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39512" y="32461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Человек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говорит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150608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7333488" y="187452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00416" y="2148840"/>
            <a:ext cx="914400" cy="9144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4231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0648" y="32461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Устройство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уточняет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381744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9564624" y="187452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31552" y="2148840"/>
            <a:ext cx="914400" cy="9144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24231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01784" y="32461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Ведёт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шагам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640080" y="47091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960120" y="48646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Уточнение адреса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960120" y="523036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повторяет адрес вслух и ждёт подтверждения, прежде чем строить маршрут.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126480" y="47091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BEFD8"/>
          </a:solidFill>
          <a:ln w="12700">
            <a:solidFill>
              <a:srgbClr val="FBEFD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46520" y="48646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 важнее навигации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6446520" y="523036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Предупреждение о препятствии обрывает подсказку маршрута на полуслове.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цифры, которые стоит запомнить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1488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 в секунду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 осматривается восемнадцать раз в секунду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82880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488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04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200" dirty="0"/>
          </a:p>
        </p:txBody>
      </p:sp>
      <p:sp>
        <p:nvSpPr>
          <p:cNvPr id="11" name="Text 7"/>
          <p:cNvSpPr txBox="1"/>
          <p:nvPr/>
        </p:nvSpPr>
        <p:spPr>
          <a:xfrm>
            <a:off x="35204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метров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61188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зоны, о которой оно предупреждает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82880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1488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6" name="Text 11"/>
          <p:cNvSpPr txBox="1"/>
          <p:nvPr/>
        </p:nvSpPr>
        <p:spPr>
          <a:xfrm>
            <a:off x="62636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байт наружу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и звук остаются внутри устройства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869680" y="182880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21488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068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0,05</a:t>
            </a:r>
            <a:endParaRPr lang="en-US" sz="5200" dirty="0"/>
          </a:p>
        </p:txBody>
      </p:sp>
      <p:sp>
        <p:nvSpPr>
          <p:cNvPr id="21" name="Text 15"/>
          <p:cNvSpPr txBox="1"/>
          <p:nvPr/>
        </p:nvSpPr>
        <p:spPr>
          <a:xfrm>
            <a:off x="90068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секунды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09828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от решения до первого звука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интернета, ни сим-карты: в подземном переходе устройство работает так же, как в центре города.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Человек всегда знает, что с прибором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сообщает о себе голосом — молчание не должно быть двусмысленным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6232" y="2148840"/>
            <a:ext cx="1005840" cy="1005840"/>
          </a:xfrm>
          <a:prstGeom prst="ellipse">
            <a:avLst/>
          </a:prstGeom>
          <a:solidFill>
            <a:srgbClr val="E3F0EA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984" y="24505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Готово к работе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8862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Объявляет о себе при включении и после каждого восстановления.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9552" y="2148840"/>
            <a:ext cx="1005840" cy="1005840"/>
          </a:xfrm>
          <a:prstGeom prst="ellipse">
            <a:avLst/>
          </a:prstGeom>
          <a:solidFill>
            <a:srgbClr val="FBEFD8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4505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«Камера не видит»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8862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 закрыт или темно — скажет об этом и повторит, пока не прозреет.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62872" y="2148840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4" y="24505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 восстанавливается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8862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Связь, питание, служба: поднимается за секунды и сообщает об этом.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Незрячий человек не может посмотреть на экран и проверить, работает ли прибор. Значит, прибор говорит об этом сам.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Каждая прогулка сохраняется целиком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разбирать пройденный маршрут по записи, а не по памяти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148840"/>
            <a:ext cx="822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331720"/>
            <a:ext cx="4572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19856" y="18745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8536" y="2148840"/>
            <a:ext cx="822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331720"/>
            <a:ext cx="457200" cy="685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99632" y="18745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68312" y="2148840"/>
            <a:ext cx="822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331720"/>
            <a:ext cx="457200" cy="6858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979408" y="18745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848088" y="2148840"/>
            <a:ext cx="8229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68" y="2331720"/>
            <a:ext cx="457200" cy="6858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0080" y="3566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 с рамками — что именно устройство видело в этот момент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85800" y="45971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66851" y="4569714"/>
            <a:ext cx="100584" cy="96012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047902" y="4535424"/>
            <a:ext cx="100584" cy="164592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228954" y="4555998"/>
            <a:ext cx="100584" cy="12344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410005" y="4583430"/>
            <a:ext cx="100584" cy="6858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591056" y="4521708"/>
            <a:ext cx="100584" cy="19202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772107" y="4466844"/>
            <a:ext cx="100584" cy="301752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953158" y="4405122"/>
            <a:ext cx="100584" cy="42519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134210" y="4439412"/>
            <a:ext cx="100584" cy="35661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315261" y="4494276"/>
            <a:ext cx="100584" cy="246888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496312" y="4555998"/>
            <a:ext cx="100584" cy="12344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677363" y="45902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858414" y="4576572"/>
            <a:ext cx="100584" cy="82296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039466" y="4542282"/>
            <a:ext cx="100584" cy="150876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20517" y="4562856"/>
            <a:ext cx="100584" cy="10972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401568" y="45902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582619" y="45971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763670" y="4555998"/>
            <a:ext cx="100584" cy="12344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944722" y="4501134"/>
            <a:ext cx="100584" cy="233172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125773" y="4425696"/>
            <a:ext cx="100584" cy="384048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306824" y="4377690"/>
            <a:ext cx="100584" cy="48006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487875" y="4411980"/>
            <a:ext cx="100584" cy="41148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68926" y="4473702"/>
            <a:ext cx="100584" cy="28803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849978" y="4528566"/>
            <a:ext cx="100584" cy="178308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5031029" y="4569714"/>
            <a:ext cx="100584" cy="96012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212080" y="45902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393131" y="45971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5574182" y="4583430"/>
            <a:ext cx="100584" cy="6858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755234" y="4555998"/>
            <a:ext cx="100584" cy="12344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936285" y="4576572"/>
            <a:ext cx="100584" cy="82296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117336" y="45902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298387" y="4562856"/>
            <a:ext cx="100584" cy="10972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6479438" y="4514850"/>
            <a:ext cx="100584" cy="20574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6660490" y="4453128"/>
            <a:ext cx="100584" cy="32918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6841541" y="4391406"/>
            <a:ext cx="100584" cy="452628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7022592" y="4432554"/>
            <a:ext cx="100584" cy="370332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203643" y="4487418"/>
            <a:ext cx="100584" cy="26060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7384694" y="4542282"/>
            <a:ext cx="100584" cy="15087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7565746" y="4576572"/>
            <a:ext cx="100584" cy="8229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7746797" y="45971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7927848" y="45902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8108899" y="4569714"/>
            <a:ext cx="100584" cy="96012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8289950" y="4528566"/>
            <a:ext cx="100584" cy="17830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8471002" y="4549140"/>
            <a:ext cx="100584" cy="13716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8652053" y="4583430"/>
            <a:ext cx="100584" cy="6858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8833104" y="45971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9014155" y="4576572"/>
            <a:ext cx="100584" cy="82296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9195206" y="4535424"/>
            <a:ext cx="100584" cy="164592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9376258" y="4480560"/>
            <a:ext cx="100584" cy="27432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9557309" y="4418838"/>
            <a:ext cx="100584" cy="39776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9738360" y="4453128"/>
            <a:ext cx="100584" cy="32918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9919411" y="4507992"/>
            <a:ext cx="100584" cy="21945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0100462" y="4555998"/>
            <a:ext cx="100584" cy="12344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0281514" y="4583430"/>
            <a:ext cx="100584" cy="6858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10462565" y="45971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10643616" y="45902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10824667" y="4562856"/>
            <a:ext cx="100584" cy="10972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11005718" y="4576572"/>
            <a:ext cx="100584" cy="82296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11186770" y="45902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11367821" y="45971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3291840" y="5257800"/>
            <a:ext cx="146304" cy="14630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78" name="Text 72"/>
          <p:cNvSpPr txBox="1"/>
          <p:nvPr/>
        </p:nvSpPr>
        <p:spPr>
          <a:xfrm>
            <a:off x="3566160" y="5175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устройства</a:t>
            </a:r>
            <a:endParaRPr lang="en-US" sz="1250" dirty="0"/>
          </a:p>
        </p:txBody>
      </p:sp>
      <p:sp>
        <p:nvSpPr>
          <p:cNvPr id="79" name="Shape 73"/>
          <p:cNvSpPr/>
          <p:nvPr/>
        </p:nvSpPr>
        <p:spPr>
          <a:xfrm>
            <a:off x="6126480" y="5257800"/>
            <a:ext cx="146304" cy="14630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80" name="Text 74"/>
          <p:cNvSpPr txBox="1"/>
          <p:nvPr/>
        </p:nvSpPr>
        <p:spPr>
          <a:xfrm>
            <a:off x="6400800" y="5175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человека и улица</a:t>
            </a:r>
            <a:endParaRPr lang="en-US" sz="1250" dirty="0"/>
          </a:p>
        </p:txBody>
      </p:sp>
      <p:sp>
        <p:nvSpPr>
          <p:cNvPr id="81" name="Shape 75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BEFD8"/>
          </a:solidFill>
          <a:ln w="12700">
            <a:solidFill>
              <a:srgbClr val="FBEFD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82" name="Text 76"/>
          <p:cNvSpPr txBox="1"/>
          <p:nvPr/>
        </p:nvSpPr>
        <p:spPr>
          <a:xfrm>
            <a:off x="1005840" y="57150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Записанную прогулку можно прогнать через устройство заново — с теми же паузами и тем же голосом.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Показываем вживую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коротких сюжета, минут на десять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58568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5466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Надеваем и включаем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807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объявляет, что готово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58568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254660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Проходим мимо препятствия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2807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Слушаем, что и когда оно скажет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70248"/>
            <a:ext cx="960120" cy="960120"/>
          </a:xfrm>
          <a:prstGeom prst="ellipse">
            <a:avLst/>
          </a:prstGeom>
          <a:solidFill>
            <a:srgbClr val="FBEFD8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455828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0312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Закрываем объектив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103120" y="4818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говорит, что перестало видеть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70248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716" y="455828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2668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Просим маршрут голосом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726680" y="4818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Кнопка, адрес, уточнение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помещении спутники не ловятся — маршрут тогда смотрим по записи прогулки по городу.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Сейчас мы собираем обратную связь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устройство улучшается рядом с теми, кто им пользуется, а не в лаборатории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5283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0574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Прогулки в реальных условиях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7614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маршруты, ваша погода, разное время суток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40280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25283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20574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Участники разных групп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27614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Возраст, степень потери зрения, опыт самостоятельных выходов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97680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45857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0312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экспертиза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103120" y="48188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звучать, какими словами и как часто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97680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716" y="45857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2668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Прямая связь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726680" y="48188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Контактный человек с обеих сторон, без официальной переписки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Программу испытаний с группами участников и протоколом мы готовим отдельно и хотим согласовать её с вами.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371600"/>
            <a:ext cx="3566160" cy="356616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514600"/>
            <a:ext cx="146304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011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1089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Отвечу на вопросы — и запишу всё, что вы назовёте недостающим.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43000" y="4343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Валентина Синицына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4754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ГУАП · v.a.sinitsina@evm.eco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BlindNav — возможности устройства</dc:title>
  <dc:subject>PptxGenJS Presentation</dc:subject>
  <dc:creator>Валентина Синицына</dc:creator>
  <cp:lastModifiedBy>Валентина Синицына</cp:lastModifiedBy>
  <cp:revision>1</cp:revision>
  <dcterms:created xsi:type="dcterms:W3CDTF">2026-09-06T15:48:24Z</dcterms:created>
  <dcterms:modified xsi:type="dcterms:W3CDTF">2026-09-06T15:48:24Z</dcterms:modified>
</cp:coreProperties>
</file>